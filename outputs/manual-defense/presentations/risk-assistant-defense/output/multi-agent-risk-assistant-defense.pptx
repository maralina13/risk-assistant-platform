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633c0ab4b34479" /><Relationship Type="http://schemas.openxmlformats.org/officeDocument/2006/relationships/extended-properties" Target="/docProps/app.xml" Id="Racb2162cfee04983" /><Relationship Type="http://schemas.openxmlformats.org/officeDocument/2006/relationships/officeDocument" Target="/ppt/presentation.xml" Id="R63516e74a54749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76e0c486804e67"/>
  </p:sldMasterIdLst>
  <p:notesMasterIdLst>
    <p:notesMasterId xmlns:r="http://schemas.openxmlformats.org/officeDocument/2006/relationships" r:id="R151213be8cb0478d"/>
  </p:notesMasterIdLst>
  <p:sldIdLst>
    <p:sldId xmlns:r="http://schemas.openxmlformats.org/officeDocument/2006/relationships" id="256" r:id="Rf55c2d89a3df4bb9"/>
    <p:sldId xmlns:r="http://schemas.openxmlformats.org/officeDocument/2006/relationships" id="257" r:id="R80f2a42b8a784825"/>
    <p:sldId xmlns:r="http://schemas.openxmlformats.org/officeDocument/2006/relationships" id="258" r:id="R2dbfb0e583fe43d4"/>
    <p:sldId xmlns:r="http://schemas.openxmlformats.org/officeDocument/2006/relationships" id="259" r:id="R8aa03451158741b1"/>
    <p:sldId xmlns:r="http://schemas.openxmlformats.org/officeDocument/2006/relationships" id="260" r:id="Rd526534f33544191"/>
    <p:sldId xmlns:r="http://schemas.openxmlformats.org/officeDocument/2006/relationships" id="261" r:id="R99d7a6e9405e4f5e"/>
    <p:sldId xmlns:r="http://schemas.openxmlformats.org/officeDocument/2006/relationships" id="262" r:id="R0aab36465a0645e4"/>
    <p:sldId xmlns:r="http://schemas.openxmlformats.org/officeDocument/2006/relationships" id="263" r:id="R2902cb76d7cd4ec1"/>
    <p:sldId xmlns:r="http://schemas.openxmlformats.org/officeDocument/2006/relationships" id="264" r:id="R398501c371e74485"/>
    <p:sldId xmlns:r="http://schemas.openxmlformats.org/officeDocument/2006/relationships" id="265" r:id="R7c403a93f3c54b7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76e0c486804e67" /><Relationship Type="http://schemas.openxmlformats.org/officeDocument/2006/relationships/theme" Target="/ppt/theme/theme1.xml" Id="R41196dfc0b90404c" /><Relationship Type="http://schemas.openxmlformats.org/officeDocument/2006/relationships/notesMaster" Target="/ppt/notesMasters/notesMaster1.xml" Id="R151213be8cb0478d" /><Relationship Type="http://schemas.openxmlformats.org/officeDocument/2006/relationships/presProps" Target="/ppt/presProps.xml" Id="R193c82b77e3445ca" /><Relationship Type="http://schemas.openxmlformats.org/officeDocument/2006/relationships/viewProps" Target="/ppt/viewProps.xml" Id="R5d60316954cf4fdb" /><Relationship Type="http://schemas.openxmlformats.org/officeDocument/2006/relationships/tableStyles" Target="/ppt/tableStyles.xml" Id="R20d2b48b4f8b49f4" /><Relationship Type="http://schemas.openxmlformats.org/officeDocument/2006/relationships/slide" Target="/ppt/slides/slide1.xml" Id="Rf55c2d89a3df4bb9" /><Relationship Type="http://schemas.openxmlformats.org/officeDocument/2006/relationships/slide" Target="/ppt/slides/slide2.xml" Id="R80f2a42b8a784825" /><Relationship Type="http://schemas.openxmlformats.org/officeDocument/2006/relationships/slide" Target="/ppt/slides/slide3.xml" Id="R2dbfb0e583fe43d4" /><Relationship Type="http://schemas.openxmlformats.org/officeDocument/2006/relationships/slide" Target="/ppt/slides/slide4.xml" Id="R8aa03451158741b1" /><Relationship Type="http://schemas.openxmlformats.org/officeDocument/2006/relationships/slide" Target="/ppt/slides/slide5.xml" Id="Rd526534f33544191" /><Relationship Type="http://schemas.openxmlformats.org/officeDocument/2006/relationships/slide" Target="/ppt/slides/slide6.xml" Id="R99d7a6e9405e4f5e" /><Relationship Type="http://schemas.openxmlformats.org/officeDocument/2006/relationships/slide" Target="/ppt/slides/slide7.xml" Id="R0aab36465a0645e4" /><Relationship Type="http://schemas.openxmlformats.org/officeDocument/2006/relationships/slide" Target="/ppt/slides/slide8.xml" Id="R2902cb76d7cd4ec1" /><Relationship Type="http://schemas.openxmlformats.org/officeDocument/2006/relationships/slide" Target="/ppt/slides/slide9.xml" Id="R398501c371e74485" /><Relationship Type="http://schemas.openxmlformats.org/officeDocument/2006/relationships/slide" Target="/ppt/slides/slide10.xml" Id="R7c403a93f3c54b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7f36182d2a344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de547a2df04ab2" /><Relationship Type="http://schemas.openxmlformats.org/officeDocument/2006/relationships/notesMaster" Target="/ppt/notesMasters/notesMaster1.xml" Id="Rd79d1e7700384f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cf7113e0194407" /><Relationship Type="http://schemas.openxmlformats.org/officeDocument/2006/relationships/notesMaster" Target="/ppt/notesMasters/notesMaster1.xml" Id="R6f071a0c6f614d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d218dd54e9484b" /><Relationship Type="http://schemas.openxmlformats.org/officeDocument/2006/relationships/notesMaster" Target="/ppt/notesMasters/notesMaster1.xml" Id="R8ac1ec4c0ca64d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dd0978469c4840" /><Relationship Type="http://schemas.openxmlformats.org/officeDocument/2006/relationships/notesMaster" Target="/ppt/notesMasters/notesMaster1.xml" Id="R6fcb74e19ea147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1845ca65d8400c" /><Relationship Type="http://schemas.openxmlformats.org/officeDocument/2006/relationships/notesMaster" Target="/ppt/notesMasters/notesMaster1.xml" Id="R3344612626cb4b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2a3c5590ea4c2f" /><Relationship Type="http://schemas.openxmlformats.org/officeDocument/2006/relationships/notesMaster" Target="/ppt/notesMasters/notesMaster1.xml" Id="R1740e74beeb64d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0e4b1766234c5e" /><Relationship Type="http://schemas.openxmlformats.org/officeDocument/2006/relationships/notesMaster" Target="/ppt/notesMasters/notesMaster1.xml" Id="R4be6d68dd11949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6ae43aadda497b" /><Relationship Type="http://schemas.openxmlformats.org/officeDocument/2006/relationships/notesMaster" Target="/ppt/notesMasters/notesMaster1.xml" Id="R88319299f00547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f876007a0b43c9" /><Relationship Type="http://schemas.openxmlformats.org/officeDocument/2006/relationships/notesMaster" Target="/ppt/notesMasters/notesMaster1.xml" Id="Rfa91f1a73e184d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bb99327ac0481e" /><Relationship Type="http://schemas.openxmlformats.org/officeDocument/2006/relationships/notesMaster" Target="/ppt/notesMasters/notesMaster1.xml" Id="R06569d6472b441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77fd685f847f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862095d03f4427c" /><Relationship Type="http://schemas.openxmlformats.org/officeDocument/2006/relationships/slideLayout" Target="/ppt/slideLayouts/slideLayout2.xml" Id="R63093ebac91d4c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093ebac91d4c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350d51f75843f8" /><Relationship Type="http://schemas.openxmlformats.org/officeDocument/2006/relationships/notesSlide" Target="/ppt/notesSlides/notesSlide1.xml" Id="R10c34c636b1f4d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aca866a0254ec9" /><Relationship Type="http://schemas.openxmlformats.org/officeDocument/2006/relationships/notesSlide" Target="/ppt/notesSlides/notesSlide2.xml" Id="R773842df00c348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5a07b0b1ce4e75" /><Relationship Type="http://schemas.openxmlformats.org/officeDocument/2006/relationships/notesSlide" Target="/ppt/notesSlides/notesSlide3.xml" Id="R62dad4bf7a8842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8fa0f7e8734b2b" /><Relationship Type="http://schemas.openxmlformats.org/officeDocument/2006/relationships/notesSlide" Target="/ppt/notesSlides/notesSlide4.xml" Id="R8717d7dbee8a43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ed458f0b5442b3" /><Relationship Type="http://schemas.openxmlformats.org/officeDocument/2006/relationships/notesSlide" Target="/ppt/notesSlides/notesSlide5.xml" Id="R1c1db4f3b0c643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5fc8b4bbc24f40" /><Relationship Type="http://schemas.openxmlformats.org/officeDocument/2006/relationships/notesSlide" Target="/ppt/notesSlides/notesSlide6.xml" Id="R7e992fdfe4ff40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1a3504dc51426d" /><Relationship Type="http://schemas.openxmlformats.org/officeDocument/2006/relationships/notesSlide" Target="/ppt/notesSlides/notesSlide7.xml" Id="R9516cee46ef94a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8dc7e261b14210" /><Relationship Type="http://schemas.openxmlformats.org/officeDocument/2006/relationships/notesSlide" Target="/ppt/notesSlides/notesSlide8.xml" Id="R0ccec77e409943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d9a66a04cb405c" /><Relationship Type="http://schemas.openxmlformats.org/officeDocument/2006/relationships/notesSlide" Target="/ppt/notesSlides/notesSlide9.xml" Id="R601c21198ac445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b2f94d12ea43bf" /><Relationship Type="http://schemas.openxmlformats.org/officeDocument/2006/relationships/notesSlide" Target="/ppt/notesSlides/notesSlide10.xml" Id="R48e2aeca586847d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0C8936-0EE0-4978-86A1-65E7660D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C39DD-E7BB-434D-84DD-4C2EF668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D3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DD3FC"/>
                </a:solidFill>
                <a:latin typeface="Aptos"/>
                <a:ea typeface="Aptos"/>
                <a:cs typeface="Aptos"/>
              </a:rPr>
              <a:t>защита учебного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6D88B-EE62-4368-A4A8-954DFB68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Multi-Agent Risk 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C2C7D-713C-4490-ABDF-A3D6024F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619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Микросервисная event-driven платформа для анализа проектных рисков: Kafka, Kubernetes, GitOps, Service Mesh, Observability и CI/CD.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C599D-EE7E-4CC3-A206-AAE1ABAC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EA74D-5910-4700-8E0F-974751A2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Kafka / EDA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F82A6-B5CF-4C6D-9EE6-C525C591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524250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B624F-A724-4A66-B4F0-6F134ADB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90925"/>
            <a:ext cx="1181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Kubernetes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DC2CC-F004-45D9-AC84-9B801BFF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242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4C702-9CBE-48C7-99C7-E8C317F6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9092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ArgoCD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5338A-A61D-45C8-B03E-8ADBC6D5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242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4D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23519-3FF5-4764-A0FE-F5146E45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90925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B2628-FB5F-4A6B-BCDD-DF0B3808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76300"/>
            <a:ext cx="4095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DEB77-3FFE-48D7-9BDA-A89709F8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335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0F457-D138-441D-83D8-240EC075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335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микросервисов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92BCC-0051-4EA2-9AA0-92DE683C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ADE8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4ADE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01A4C-133F-47FE-93CF-947FF0E0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335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Kubernetes nodes Ready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81D39-F7C9-46A9-AED5-91914D92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4795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ADE8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4ADE80"/>
                </a:solidFill>
                <a:latin typeface="Aptos"/>
                <a:ea typeface="Aptos"/>
                <a:cs typeface="Aptos"/>
              </a:rPr>
              <a:t>10/10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1D5DB-3C68-4551-AFF3-77FE2569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Prometheus targets healthy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9899AE-715C-400E-A68A-792D94EB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4795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ACC15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ACC15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2CD37B-EF61-4940-A5DB-5619196F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Locust failures in normal 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779706-8519-48DC-8CF1-CBA9DC41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33875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Live image: localhost:5000/risk-assistant:ci-final-demo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39722C-15AA-4A49-81B3-4DEAD26A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Multi-Agent Risk Assistant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0973FC-6571-471F-8BA0-8BE7ECDF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673479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9E8409-ED72-476E-9752-F4249AB2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C9000-54B3-4938-A987-104FFC12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идея и пользовательский сценарий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139E8-00F1-4FC6-B474-0CA7FC5D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76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Что делает система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66654-5F98-47A4-A635-ED2EA56F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93C5F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16522-7AE5-4F35-86A3-E78DD7B9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Пользователь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4FA78-C87D-4A73-B7B7-184DECF3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2114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Отправляет описание проекта и получает task_id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A6C69-2BCF-4FBF-8B47-9EAAD674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428750"/>
            <a:ext cx="2476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FB0D7-6395-4346-A96E-CBA0EE7A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430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Risk Assistant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4A55E-2A57-4723-B70D-88057B29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2880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Запускает многоагентный анализ: требования, риски, mitigation plan, валидация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F19D1-84AB-43C8-8E3E-0140F8C5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097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86EFA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D2330-3925-4E96-A615-D2D9E688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240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Отчет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1DE16-27AC-40C9-8C56-2B5F9C34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09800"/>
            <a:ext cx="2114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Markdown-матрица рисков, рекомендации и audit trail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DD0C3-15E1-4866-9CE8-10776081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0975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11430">
            <a:solidFill>
              <a:srgbClr val="FCD3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3B65A-4279-4C41-9BD4-C7FDB989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2405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Администратор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D86CB-E9A0-4BE4-A24D-C1555B96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09800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Grafana, ArgoCD, kubectl, alerts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DE5C1A-E7F1-4CF2-966A-A8A14863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81250"/>
            <a:ext cx="552450" cy="-190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880AF-4DF3-4B87-9C34-6A337E0C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90750"/>
            <a:ext cx="-71270" cy="8936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D3830-2C33-4AF1-8B87-7209C798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90750"/>
            <a:ext cx="-111200" cy="-26439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7C22D4-4ADA-4517-8626-FFF9442F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647700" cy="190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8DC779-1143-4067-A0C3-F6D058B5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81250"/>
            <a:ext cx="-109866" cy="31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16A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065570-0142-4ACB-A7DE-274028B0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81250"/>
            <a:ext cx="-75304" cy="-8598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87EA35-CBFC-45C9-8A08-1C93A16F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81250"/>
            <a:ext cx="3238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2BCA61-468B-4BFB-A9C5-523F1DBE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81250"/>
            <a:ext cx="-96507" cy="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B513B9-F4EA-4DD3-A61F-27B956FA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81250"/>
            <a:ext cx="-96507" cy="-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825C09-5200-49ED-86D2-5CE8D6C6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Главная архитектурная идея: прием запроса и тяжелая обработка разделены событием ProjectSubmitted в Kafka. Пользователь быстро получает task_id, а downstream сервисы обрабатывают событие независимо.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CA460E-9C46-4345-B694-D87B8EA6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5775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Проверенный live-сценарий: POST /projects/analyze -&gt; Kafka event -&gt; Risk Analysis -&gt; GET /reports/{task_id}.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1C0DD8-EDD9-4AFF-B317-E8E000D3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Multi-Agent Risk Assistant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8D7D3F-641D-4ED6-8F84-C97345F5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282149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DC8F7A-3437-422F-897C-973CEA23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53711-3D1C-40BF-861C-CDF23719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критерии и доказательства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E96BE-787C-4A41-BE13-C2B20A4D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76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Требования преподавателя закрыты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24CB0-FAB3-43A3-A238-83F83CDD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382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9A47E-82ED-4935-B82C-0F9B1305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23975"/>
            <a:ext cx="361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Требование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34C04-E754-4F17-846B-FE42B83E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323975"/>
            <a:ext cx="3333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Где проверять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AE305-C2D3-4D06-A672-F71A9E8B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3A19B-2FEB-4528-B459-9448F3C6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66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ТЗ, User Stories, Use Cases, NFR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72CD5-1A9E-4955-97AB-27C866B6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668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docs/high-level-scope.md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5F830-C394-4228-819F-0A913294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573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7B8D9-4910-40DF-BA10-13DA43FA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B0BA8B-93B0-426E-8314-EE658AAE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621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C4 L1-L3 + Sequence Diagram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293C2-A630-4634-8989-73AE0B38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621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docs/c4-and-sequence.md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96560-53F7-43D7-8D42-B54CEFC7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526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1AA2C2-19F1-41AD-B0B2-1771A3FB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5E9E1-0C03-455E-8AD7-D35F7945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3+ microservices, Kafka/EDA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2A5B1-3107-4868-8F85-2BC75898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574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services/, contracts/, infra/kafka/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8B45A-C970-40A5-A328-2F243440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6479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55AF8-CA41-41A2-93C4-D6631B25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89E96-6DA4-4167-9DF5-73E508A9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527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RDBMS + NoSQL + Valkey cache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0A3C37-4683-450D-832A-3A965909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527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infra/postgres, Helm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BE56FE-4AA4-4311-99D3-944FC568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1432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8EB927-1E88-408A-8D4E-0FE96830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AA7A40-475E-4130-B718-FB38F2C2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80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Kubernetes, Cilium, autoscaling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73EDD5-7C38-46D8-9050-55738506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480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infra/kubernetes/cluster/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82E9E9-1175-4726-BA63-69F79D90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385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0F12EF-9150-4AA3-97EF-DC46A405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3C63B5-308B-473F-B62B-FFD1547C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433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Terraform + ArgoCD + Ansible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17AFD3-765C-4FD2-B050-8A781062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433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infra/terraform, infra/argocd, infra/ansible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E8C280-501D-4098-9FB1-868F4D4D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338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E7B142-FC4E-4477-BCE9-8410A8A0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C7F999-4DAA-45A2-AAFD-49A182F8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386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Istio, HAProxy, Keepalived, rate limit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EAD89F-FBAD-4853-9719-C229F719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38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infra/kubernetes/gateway, mesh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74B3B6-640C-48C0-8B9F-6D5E7A62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629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046016-5131-4FED-9BAC-AF5868D6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9520B1-7DD8-4220-B264-EBA77877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339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Observability, CI/CD, Locust validation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1C97C6-E7AA-4CAE-9816-3BA46513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339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infra/observability, infra/ci, tests/load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CDB755-171B-40D6-BBB6-2E52AB62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244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42033C-AC7A-434D-B3A9-7824B11C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Multi-Agent Risk Assistant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5C33C8-7288-4926-959B-8781B795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66310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072DDB-8B25-4F61-BD16-8158C3F3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05C37-8280-4B0A-A0CA-28380CF4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микросервисная декомпозиция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60901-76C9-4E9E-9BD0-19EBA3BC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76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C4 L2: контейнеры и связи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A3282-815A-4902-8584-5B7999D8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93C5F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5CF50-86D3-4C9A-8D31-C118AA19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E5340-5EAF-400B-952E-7FB33B25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05175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HTTP/JSON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E4966-6F50-48D8-9BA9-04A0CF15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81300"/>
            <a:ext cx="1695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CE8"/>
          </a:solidFill>
          <a:ln xmlns:a="http://schemas.openxmlformats.org/drawingml/2006/main" w="11430">
            <a:solidFill>
              <a:srgbClr val="FACC1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C6148-4417-4A3A-B177-814F591B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95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HAProxy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7690A-7577-428D-8C0B-6A9C1570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8135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Ingress Controller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entry point + balancing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C28F0-3385-42B1-BDA9-9D2B493C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1619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11430">
            <a:solidFill>
              <a:srgbClr val="818C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18149-E764-4F53-B8E2-AC04014E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95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API Gateway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76D92-E472-401A-A792-A05314C9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813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routing + rate limit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20ABB-86B8-4509-8414-17B71A18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219200"/>
            <a:ext cx="1600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EC3321-1054-48DD-808F-85F2A5C4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3335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Project Intake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32658-82A5-4938-BB0A-555B4BF2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192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task + ProjectSubmitted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4850C-C0BF-40D2-A00B-FCFB805A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81300"/>
            <a:ext cx="1600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34A0C2-4738-4748-90F0-2BE32EBB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956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Report Service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81A71-DAE3-4CEF-8862-9B722319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813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GET reports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09F9A-BA2C-4F8B-97C1-958C2AE8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43400"/>
            <a:ext cx="1600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DC7211-BC37-4554-8018-59D1006B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577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Audit 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C9DC75-415B-48BC-B740-9AC68763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434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event trail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849FD3-54C5-4CED-9A25-ACABEFEB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192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86EFA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295CD1-1E10-4DA5-B17B-C12F8393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3335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Risk Analysis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D49AA0-BCA1-4DCB-BA89-443B94C8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61925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multi-agent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995624-66D9-4E06-BD75-189E21A4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434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67E8F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5A9624-B9FC-4C2E-B0BB-CA6F74E8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577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Notification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665D3D-4E89-48FB-B4A9-C504819B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4345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ReportGenerated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FC67F8-58CF-496E-B452-00D143FE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81300"/>
            <a:ext cx="1885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FDBA7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47509A-2C53-4CA4-958F-07E0920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95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Kafka / Redpanda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B0B00A-9C8E-4FF1-B883-885DFDD9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813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domain events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8073A6-5F11-40A5-9659-9AC0B9DE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95650"/>
            <a:ext cx="457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A50FB0-9CBF-452D-96E5-C1D7CE60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95650"/>
            <a:ext cx="-96507" cy="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319D22-6262-444E-91BA-6DE6C6A7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95650"/>
            <a:ext cx="-96507" cy="-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200D53-F818-4201-99FB-4F1AC9CF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95650"/>
            <a:ext cx="419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AA8157-D6DE-460B-9443-BF7DF46D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95650"/>
            <a:ext cx="-96507" cy="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0BCED6-1C3F-4751-AF85-3CD1AB9D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95650"/>
            <a:ext cx="-96507" cy="-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5073EE-4EBE-4823-ACAA-12CAB1E4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533400" cy="-1485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DFA625-A0AC-484E-862D-61266C43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57350"/>
            <a:ext cx="25037" cy="11152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D19034-8138-46B9-AD6B-D6C82E77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57350"/>
            <a:ext cx="-90250" cy="70139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AE86DF-101B-4262-9A61-9290F7DB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95650"/>
            <a:ext cx="533400" cy="-762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AB9906-CA21-40B0-8395-E2207A4B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19450"/>
            <a:ext cx="-86875" cy="7427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AF15F8-16E6-4674-A39B-90DF2C8B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19450"/>
            <a:ext cx="-104198" cy="-46981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9B1E6F-6101-467C-9058-95975110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48050"/>
            <a:ext cx="533400" cy="1333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F2CBF9-C509-43AA-992A-C258E649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81550"/>
            <a:ext cx="-92706" cy="-6685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440995-3206-45D2-8659-5FD5CA53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81550"/>
            <a:ext cx="21023" cy="-1123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028E42-4CDC-47A9-A614-68BC4387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57350"/>
            <a:ext cx="514350" cy="14097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5E3990-11F5-4E98-9262-153F45FF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67050"/>
            <a:ext cx="-90614" cy="-6966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39F07B-860F-4A26-9514-2B5D9695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67050"/>
            <a:ext cx="24456" cy="-111653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81D442-8D1E-4BAF-9B59-6E588EC0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81300"/>
            <a:ext cx="0" cy="-685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6E4D1D-6573-46FD-BD5F-05D0471C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95500"/>
            <a:ext cx="61245" cy="9650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AE4BCB-8009-4D4B-84C1-B81EDC0F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95500"/>
            <a:ext cx="-61245" cy="9650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BB733F-5453-47A9-9B64-3BB524C6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57600"/>
            <a:ext cx="0" cy="685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61698A-FF3C-485A-A091-1350ACC1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343400"/>
            <a:ext cx="-61245" cy="-9650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2549853-FE04-432F-AF92-55C24B9D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343400"/>
            <a:ext cx="61245" cy="-9650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0E829C-6417-45D7-8788-EB9599B3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Сервисы масштабируются независимо; downstream consumers можно добавлять без изменения Project Intake.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B04514-8DF8-44B1-B647-CF2844BF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Multi-Agent Risk Assistant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E9508FF-FF9E-40DB-94C1-A7F86863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779565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31C6DC-9476-4D05-A906-E1CC3F1C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B92DF-226F-49A2-B515-F3CE1089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слабая связность и replay событий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D0DE6-8422-4FAE-AC3D-557AEB5E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76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EDA: почему Kafka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EAF21-B691-4E1A-ADC0-872AA447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466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7299E-C92F-44AA-B51E-652425B7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DE29E-1AAB-4A42-B682-CA4B0D06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API Gateway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B54E9-FDD3-462E-AD99-AF122043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rate limit in Valkey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7FB58-9255-4584-8B3A-04E105D2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90900"/>
            <a:ext cx="2952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59974-0746-46A3-A3F1-2874F575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390900"/>
            <a:ext cx="-96507" cy="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D6EE4-A5BD-42EC-87DC-6A8E08E6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390900"/>
            <a:ext cx="-96507" cy="-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FB090-0233-4163-8590-F3355B53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57500"/>
            <a:ext cx="1466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A3223-1FA5-4949-8B6E-492A8FC2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90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54E8E-5D07-4EAE-BCEB-F1F8AE3D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385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Project Intake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CB5B2B-5F44-4A5E-A633-09206B9D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242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task_id + ProjectSubmitted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DD3C86-2803-4B7C-BEFC-7183938C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90900"/>
            <a:ext cx="2952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78DAA-445B-4FBE-ACA5-A888B92F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90900"/>
            <a:ext cx="-96507" cy="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2EA65F-7AC9-48C3-95DF-11C23E96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90900"/>
            <a:ext cx="-96507" cy="-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A559F-7E9B-4251-AC87-BA5CFAAD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1466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BF192-B953-4E72-8DA8-91ADCADB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90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Kafka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1C5C00-71D0-4EF9-81F7-5C73B3F0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Event Bus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790A3E-B862-494E-AE7B-70E926D8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retention, replay, groups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65D062-D37A-4A59-AE57-C8EF5D6A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90900"/>
            <a:ext cx="2952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DED46A-468A-49D2-9A09-BE33062E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90900"/>
            <a:ext cx="-96507" cy="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B418A5-D33B-4531-BF05-6779AC6F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90900"/>
            <a:ext cx="-96507" cy="-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F6FC75-9FF6-4560-ABFF-52CF7F46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1466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0A9BA7-1B6A-40F5-863E-182091B3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90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689FA6-0B6C-47B7-BE59-5097ABBF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385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Risk Analysis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4BFAD-6682-4F18-9323-173D1D92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multi-agent workflow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A840C6-5075-47A2-B7B3-E4CCE28C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90900"/>
            <a:ext cx="2952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728B95-BC73-424D-8AB4-9D7A4A35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390900"/>
            <a:ext cx="-96507" cy="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92656E-470B-4AE0-97F4-56DA5F07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390900"/>
            <a:ext cx="-96507" cy="-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740012-BE6D-4766-960F-156B4295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1466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83FDE6-2449-432A-BCEE-686457CC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90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Save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96ED89-1CA1-418A-9C69-6A9EEFBB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385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Report Service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EAA4FD-4C52-4A64-96CF-0BC94B97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risk matrix + markdown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764EA2-FFFB-4EFA-BAEF-6F07CD78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90900"/>
            <a:ext cx="2952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9C1790-2BA7-45C5-88C2-84283B98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390900"/>
            <a:ext cx="-96507" cy="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4FC653-05D9-42D8-9EDF-D041A209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390900"/>
            <a:ext cx="-96507" cy="-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0F8E81-81CD-403C-BA67-7AA627AC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57500"/>
            <a:ext cx="1466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4A97B4-2962-4965-B161-47B40239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90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242990-9346-40F3-9784-564E215F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385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Audit / Notify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CA70AD-5904-4229-BC4C-A73848BF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5242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events and NotificationSent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EF33CB-BEA3-4B98-A4D1-3260FA98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04950"/>
            <a:ext cx="9677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6FCCC5-436F-4366-8E89-AFDAB903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914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A3412"/>
                </a:solidFill>
                <a:latin typeface="Aptos"/>
                <a:ea typeface="Aptos"/>
                <a:cs typeface="Aptos"/>
              </a:rPr>
              <a:t>RabbitMQ/NATS проще для маленького MVP; Kafka выбрана для production-like EDA: retention, consumer groups, replay, partitions и Grafana lag metrics.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F70642-B240-448A-A347-6F1101AA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Live proof: published_to_kafka=true, event_bus=kafka_redpanda, Risk Analysis формирует отчет асинхронно после ProjectSubmitted.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F67A90-4060-43DF-9567-3DA2735C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Multi-Agent Risk Assistant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8CBE22-9D63-4319-BB97-592369B2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676348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EB9A80-2911-46DB-BF2E-0AEA32B5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6F22B-7BE6-4163-BA61-0DD50222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локальная production-like инфраструктура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96800-2D6B-4B6E-BA19-F12CC19C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76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Kubernetes platform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7D808-9313-4B0C-9F14-5C18AF3C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287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4A3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FBC93-AB08-419B-9D12-E5D0FAE8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cluster: risk-assistant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04D46-3E09-49EA-81EC-E73E53A8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93C5F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C342D-5CF4-45B3-963C-17784BF9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Node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F9332-E5FD-4F5E-9A3A-99738BF9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control-plane Ready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Cilium, workloads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8E9C7-6799-402D-A8F2-5A51EC0F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93C5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AF8E8-648D-48CC-A12C-3D6ED9F5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Node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CD1FA-ED1C-48E6-A898-526806E4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worker Ready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Cilium, workloads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B4406-9F37-434F-BE41-2ACC54A4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3835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D8910F-6159-4299-ADE3-1C257D53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526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Platform infra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4BE28-1300-4E71-BC4F-F89BCD9C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38400"/>
            <a:ext cx="2114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Cilium CNI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Istio service mesh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HAProxy Ingress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Keepalived manifests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D9F7E-57C6-495C-AB29-229BF29F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1F8C0A-FBEB-406C-A086-B44C6CB4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480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GitOps / IaC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600E2-B940-4825-8D68-85B4F279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33800"/>
            <a:ext cx="2114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Terraform namespaces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ArgoCD App of Apps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Ansible Strimzi role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Helm chart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25A6D-0D88-4D32-91B0-78DAA5E7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38350"/>
            <a:ext cx="171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FDBA7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8289D-C9B2-450D-9A16-10687AAC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5265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Kafka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C5C0C7-D14F-4A3F-B93E-98143EF7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38400"/>
            <a:ext cx="1447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risk-kafka-0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Running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B9DA1E-1FBF-4179-AB4D-07A3FF75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38350"/>
            <a:ext cx="171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86EFA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AEAC04-850F-4782-B0AD-413A05F1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5265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Data stores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A17FF5-03D1-414F-8140-3662D23C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38400"/>
            <a:ext cx="1447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PostgreSQL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MongoDB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Valkey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D6A5F1-79D4-4DC6-90C7-654019B3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33750"/>
            <a:ext cx="3771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11430">
            <a:solidFill>
              <a:srgbClr val="A5B4F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FF0383-F81F-499D-B124-82E8360E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48050"/>
            <a:ext cx="350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Application namespace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798E2D-311B-4ABC-8E28-77DD5660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33800"/>
            <a:ext cx="3505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6 deployments, services, PDB, securityContext, ServiceMonitor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867A66-D208-4C0B-BD01-02BE2769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ArgoCD live: kafka, observability, platform-infra, risk-assistant, root app = Synced / Healthy.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65C94B-F648-4FB9-979B-6BCE3141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Multi-Agent Risk Assistant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B4E266-81DF-488F-9CA3-B41F9CBD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1591556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A0E3A8-BDDF-4FCD-82A1-2965237A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46D93-A55C-4820-8D90-BDA192C9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polyglot persistence под разные типы нагрузки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6B4CA-1BA6-43B4-9962-012249A5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76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Данные и cache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94FDE-E04D-47A2-9DD6-2C363EB7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00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93C5F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306CF-6719-4764-AF7F-65548844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D985E-6F2F-422E-A3AF-47742DFC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1733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projects, tasks, status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transactional 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7A7FD-EBFC-4AE9-9C78-A325B296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00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86EFA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29DF8-F27B-4D06-A6BB-0BFD9EBE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MongoDB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557E3-1862-4166-B7C7-60581212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1733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reports, audit-like docs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flexible report 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DE156-E84E-4F09-9AD8-727318B2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A3E66-AC08-474A-9991-F0F863DA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S3 / MinIO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12BD9-C80A-4ABE-A64A-7063E836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cold storage design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raw agent outputs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85B12-F8DF-4AA4-8814-EFB741E5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FDBA7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28468-F5AC-44C5-A7DA-ACEC6E86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145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Valkey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19A7A-5A5B-46F0-9EFF-BCB793A5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1733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Redis-like TTL counters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rate limit + hot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71FEF-0E31-4B24-8560-3A650D9F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DB7AD-B15D-40F6-BF4C-B9C74D36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9080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30464-0D8E-4640-87B9-077B9D9F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76550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Project Intake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Risk Analysis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Report Service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API Gateway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554A44-3589-46F4-B0A8-0D428E0F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-1714500" cy="-571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B458D-CE80-4F1C-A517-AA9D1A58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86000"/>
            <a:ext cx="110922" cy="-275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24CF10-1489-42E0-80B6-29B41B9A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86000"/>
            <a:ext cx="72187" cy="8862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DA9111-6860-42AD-B6BD-1FB56562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-1714500" cy="476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0D5493-5513-4498-9E2A-ABBCCF4E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10000"/>
            <a:ext cx="76594" cy="-8484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2C970E-3D55-48ED-AB6A-92F90220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10000"/>
            <a:ext cx="109378" cy="33181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16A3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2F6A5D-C26D-4481-B908-35BDE9A0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2286000" cy="-5048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79ADDA-BA76-4ABF-ADD5-1F1392F6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24125"/>
            <a:ext cx="-81029" cy="8061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26B0E6-A8B5-4901-B6C8-272E234E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24125"/>
            <a:ext cx="-107443" cy="-3899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2D9F99-CAD6-40BB-99A6-37484571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577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F5EC8A-6972-47CA-A5DD-F7CE9365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482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Причина выбора: не все данные одинаковые. Статусы требуют транзакций, отчеты гибкой схемы, лимиты TTL counters.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0E04EC-122C-4875-AA9A-1E5DB33E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Multi-Agent Risk Assistant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96B390-5C98-4433-9883-ECDBDCBC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87620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855930-2C8C-4E66-BC52-C631E91F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63810-0561-45A9-8824-E6A74CA4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что проверено live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DF6A2-29A7-4375-9ABC-29DE9633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76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Observability и отказоустойчивость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686F5-E84D-4907-9C79-4C6F4339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4762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DC332-8B5F-4B71-A599-9F08A994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Telemetry stack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72A86-48DB-4199-AF28-260E2E36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10/10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ED6F2-265D-46BC-870E-57446AE8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Prometheus pod targets healthy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BEC60-64DE-488F-A2B4-15F177C9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622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F0EFD-C5DE-4718-A1AC-459C0AD3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Grafana dashboard ConfigMap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F3F73-AD7B-496B-8CCE-BB23CCCF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46ABE-218C-4FD9-9972-6BC2E1F4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PrometheusRule alert pack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BF3ED-7AB3-4EB9-8431-07269A8A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338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Loki, Tempo and OpenTelemetry manifests are included for logs/traces.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CE071-6503-4FC6-AF98-2947DB51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85900"/>
            <a:ext cx="4762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298E17-26A4-44E9-9304-5EE8260E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Resilience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7551B-29D7-4A64-A3E1-50B98DC9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859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4495F-36D2-4EB1-852D-9D02B1DB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Locust requests, 0 failures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EA2D3-BACF-4336-B227-539BDDF6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ACC15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ACC15"/>
                </a:solidFill>
                <a:latin typeface="Aptos"/>
                <a:ea typeface="Aptos"/>
                <a:cs typeface="Aptos"/>
              </a:rPr>
              <a:t>429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A3532F-EB92-4A92-AD04-5ACC46EB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rate limiter observed under harder run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829308-26B1-4641-AD39-6D47EC48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3714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Circuit breaker demo: report-service scaled to 0, temporary failures appeared, rollout restored to 2/2.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CBBB67-DC80-44EA-87AD-40E4AD5A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Multi-Agent Risk Assistant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894C0C-410D-4087-8A29-9A968846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782143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CC6B21-AF94-405D-828C-47880FA7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43E10-DCED-4DDB-994D-1A94ED8E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проверенный delivery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745A7-B6BA-483C-BC27-7F6704BF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76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CI/CD и GitOps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19FBC-21BB-4FDB-9DF3-C1AF4ED0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86EF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BF7B3-CFA9-44FE-BF48-8129EC8B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BEA0A-E3F3-4B59-AD6D-AA2D549E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pytest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10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40C05-5815-49D7-A2F4-C2B0CF5C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717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93C5F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04535-B5B6-4628-9938-FC659356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860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1A015-5803-4C98-B3AA-C65512C2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Docker/Kaniko target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Python image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8BDBB-EF10-409D-9772-5E4A31B3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11430">
            <a:solidFill>
              <a:srgbClr val="A5B4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A581F-7665-4CAB-92CB-C67FB48E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605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BD259-2D64-49C2-887C-2C23D364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71800"/>
            <a:ext cx="1447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localhost:5000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ci-final-demo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DB831-9C2D-4E78-86E1-7C700792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FDBA7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00831-6A0C-467A-9630-379B00F9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8605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GitOps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0E5F2-648C-4FE2-8738-6A59FDF9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71800"/>
            <a:ext cx="1447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update Helm params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push local Git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215B3-53C2-4AD2-B431-5D3AE01A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7175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86EFA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A95E0-E564-46FE-9F4F-2B831F9F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ArgoCD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28866-37EF-4DEF-8054-E2FAB974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71800"/>
            <a:ext cx="1543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sync + rollout</a:t>
            </a:r>
          </a:p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Synced / Healthy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B07D96-897B-4979-A5E8-FD8DB2E4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28950"/>
            <a:ext cx="419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D96BDD-EC68-43EE-A895-CC76BF9C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28950"/>
            <a:ext cx="-96507" cy="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016E93-E07B-4888-880E-105CCDE6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28950"/>
            <a:ext cx="-96507" cy="-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FDFD8A-75E3-499C-A203-5A14A0AA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28950"/>
            <a:ext cx="419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D7EEF1-7A91-4A3A-9CDD-9B372C9A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28950"/>
            <a:ext cx="-96507" cy="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586E82-2843-495D-B1C8-3EE7B533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28950"/>
            <a:ext cx="-96507" cy="-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FE76D3-76E2-4FE9-94F3-5AE1ADCD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28950"/>
            <a:ext cx="419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0E775A-1D99-4E89-A29E-FD6322C3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28950"/>
            <a:ext cx="-96507" cy="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8BABCB-EEC7-41CE-A09A-9D5CEE92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28950"/>
            <a:ext cx="-96507" cy="-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97E182-7FAF-486C-9D7C-0605E68B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419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4DAE1A-2504-4F2E-8294-31FE68CC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-96507" cy="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16A3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C3F6D9-4001-47BA-8607-624FEF3F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-96507" cy="-612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608B7B-061F-48D7-8411-388D4D06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F2DDA1-328B-429C-94EA-BA1AFF9F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10100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0F2FE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E0F2FE"/>
                </a:solidFill>
                <a:latin typeface="Aptos Mono"/>
                <a:ea typeface="Aptos Mono"/>
                <a:cs typeface="Aptos Mono"/>
              </a:rPr>
              <a:t>IMAGE_TAG=ci-final-demo scripts/local_ci_pipeline.sh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F7DDC6-217C-404B-B077-84B0AAD4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340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Целевой GitLab pipeline описан отдельно: Kaniko build, registry push, Helm update, ArgoCD sync.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BB77E0-2A27-4D79-B520-F15C9105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Multi-Agent Risk Assistant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D28A90-0FFB-40B4-9445-59A6FBF8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58746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5D4A78-CA42-4500-85F3-73BB4856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926C6-0DEB-4E1E-BE11-6CC3FE12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готовый порядок демонстрации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956C3-56B4-46F2-98B1-4294F60D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Как защищать за 5-7 минут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3F9AD-B247-448D-A5DC-D68FE11D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668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318FE-39C5-4F7C-9744-F8742630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266A1-5CA0-48F4-AEBE-CD5A5553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02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Открыть criteria-matrix и high-level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C3452-A936-4BE0-A4FB-C6FC76E5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66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Показать прямое покрытие требований.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22F38-8D6A-4FF5-944F-E21614AC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50E83-DDF0-47C5-9248-BD37A9DA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60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Показать C4 и 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14E45-9F29-4927-A980-06ECD82B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Объяснить Gateway -&gt; Kafka -&gt; Risk Analysis -&gt; Report.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767BF-2EAA-4FC3-8895-7E42C789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71DD3-BB70-4E0B-9717-6811574B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718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Запустить smoke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705AE-1DFB-4778-B430-2A522661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385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Nodes Ready, ArgoCD Healthy, 6 services on ci-final-demo.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4D418-C3F6-4EA7-885B-D6DC95CB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4FC76F-FCB4-4F4F-AE66-FBD443E8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576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Запустить E2E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8A904-92D9-4EBA-9621-C9F20437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243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project_title, published_to_kafka=true, report approved.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61A58-37C1-4B00-9B25-25D8805D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C25E20-79DD-4AE9-BAD2-8C917624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434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Закрыть observability/CI/CD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2B720E-DD66-4E64-B1CF-6E57456E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01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Prometheus targets, Locust, local pipeline.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E815C-8261-47CC-8BF1-9C8AEEBD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459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F3E7CE-8611-4601-A4EF-C84B78FF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47825"/>
            <a:ext cx="428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python3 scripts/check_submission.py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71D3C0-3DBA-4094-8B8C-656AE366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459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C0C1D2-17BC-41E5-BAAC-45D8BC6E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76475"/>
            <a:ext cx="428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.venv/bin/python -m pytest -q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CC60F3-4B9D-4C2A-907D-211622FD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459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6833D2-A199-4C9B-B1BC-354D9934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05125"/>
            <a:ext cx="428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scripts/defense_smoke.sh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F60255-76EA-4E09-B55C-0D0E58FF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9950"/>
            <a:ext cx="459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A37ACC-5146-4B00-B89B-A63FC8EB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33775"/>
            <a:ext cx="428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START_PORT_FORWARD=1 scripts/demo_e2e.sh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D90334-F934-48F0-95E0-6EC2EFE3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459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18B679-26FE-4C4C-B0E3-B13A5DC4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62425"/>
            <a:ext cx="428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locust -f tests/load/locustfile.py --host http://localhost:8080 --headless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334464-EE48-4D5B-A6F8-F030E6AD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ACC1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ACC15"/>
                </a:solidFill>
                <a:latin typeface="Aptos"/>
                <a:ea typeface="Aptos"/>
                <a:cs typeface="Aptos"/>
              </a:rPr>
              <a:t>Финальная фраза: проект демонстрирует не только код, но и платформенный контур эксплуатации.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0CBE08-8BCF-4DFB-A357-E90A950E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Multi-Agent Risk Assistant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072867-592D-4E44-AE17-D5D64B65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49045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2026-05-27T22:11:22.3420000Z</dcterms:created>
  <dcterms:modified xsi:type="dcterms:W3CDTF">2026-05-27T22:11:22.3420000Z</dcterms:modified>
</coreProperties>
</file>